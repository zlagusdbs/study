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5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18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64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5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4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9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33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0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58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48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61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7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0D3FD-2EC0-47C0-831C-8D6E4FC09FD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4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179"/>
          <p:cNvSpPr txBox="1"/>
          <p:nvPr/>
        </p:nvSpPr>
        <p:spPr>
          <a:xfrm>
            <a:off x="2695491" y="1904290"/>
            <a:ext cx="10018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API-Service</a:t>
            </a:r>
            <a:endParaRPr lang="ko-KR" altLang="en-US" sz="800" dirty="0"/>
          </a:p>
        </p:txBody>
      </p:sp>
      <p:sp>
        <p:nvSpPr>
          <p:cNvPr id="290" name="직사각형 289">
            <a:extLst>
              <a:ext uri="{FF2B5EF4-FFF2-40B4-BE49-F238E27FC236}">
                <a16:creationId xmlns:a16="http://schemas.microsoft.com/office/drawing/2014/main" id="{F9308BB7-4137-BABB-841E-6F4A85859A1F}"/>
              </a:ext>
            </a:extLst>
          </p:cNvPr>
          <p:cNvSpPr/>
          <p:nvPr/>
        </p:nvSpPr>
        <p:spPr>
          <a:xfrm>
            <a:off x="2695492" y="2101742"/>
            <a:ext cx="1800000" cy="9515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00" dirty="0">
                <a:solidFill>
                  <a:schemeClr val="tx1"/>
                </a:solidFill>
              </a:rPr>
              <a:t>REST, UI</a:t>
            </a:r>
          </a:p>
        </p:txBody>
      </p:sp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131680C2-A7CE-A3E9-6FD6-7FE944BAB05E}"/>
              </a:ext>
            </a:extLst>
          </p:cNvPr>
          <p:cNvSpPr/>
          <p:nvPr/>
        </p:nvSpPr>
        <p:spPr>
          <a:xfrm>
            <a:off x="5007477" y="2100276"/>
            <a:ext cx="1800000" cy="9515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EC0AB699-9ADC-00F1-9484-2E443106F043}"/>
              </a:ext>
            </a:extLst>
          </p:cNvPr>
          <p:cNvSpPr txBox="1"/>
          <p:nvPr/>
        </p:nvSpPr>
        <p:spPr>
          <a:xfrm>
            <a:off x="4950996" y="1884832"/>
            <a:ext cx="10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Scheduler</a:t>
            </a:r>
            <a:endParaRPr lang="ko-KR" altLang="en-US" sz="800" dirty="0"/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432B5B7B-1FD9-D24F-5D7F-7CD71673410E}"/>
              </a:ext>
            </a:extLst>
          </p:cNvPr>
          <p:cNvSpPr/>
          <p:nvPr/>
        </p:nvSpPr>
        <p:spPr>
          <a:xfrm>
            <a:off x="7320962" y="2100276"/>
            <a:ext cx="1800000" cy="9515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97DC5475-47B0-6CB8-9BD5-CC5EE4DA799A}"/>
              </a:ext>
            </a:extLst>
          </p:cNvPr>
          <p:cNvSpPr txBox="1"/>
          <p:nvPr/>
        </p:nvSpPr>
        <p:spPr>
          <a:xfrm>
            <a:off x="7247909" y="1884832"/>
            <a:ext cx="10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DAG-Processor</a:t>
            </a:r>
            <a:endParaRPr lang="ko-KR" altLang="en-US" sz="800" dirty="0"/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EE10DD54-CA2C-CE82-C083-F5AC9FED735D}"/>
              </a:ext>
            </a:extLst>
          </p:cNvPr>
          <p:cNvSpPr/>
          <p:nvPr/>
        </p:nvSpPr>
        <p:spPr>
          <a:xfrm>
            <a:off x="2294903" y="644057"/>
            <a:ext cx="7278467" cy="34278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CE4BE452-0D1C-2CF1-7901-DFFD09F44926}"/>
              </a:ext>
            </a:extLst>
          </p:cNvPr>
          <p:cNvSpPr txBox="1"/>
          <p:nvPr/>
        </p:nvSpPr>
        <p:spPr>
          <a:xfrm>
            <a:off x="2294903" y="428613"/>
            <a:ext cx="878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Air Flow</a:t>
            </a:r>
            <a:endParaRPr lang="ko-KR" altLang="en-US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945DA0A-01A6-9375-87AC-1E34C013A9E8}"/>
              </a:ext>
            </a:extLst>
          </p:cNvPr>
          <p:cNvGrpSpPr/>
          <p:nvPr/>
        </p:nvGrpSpPr>
        <p:grpSpPr>
          <a:xfrm>
            <a:off x="5065546" y="2164852"/>
            <a:ext cx="1695938" cy="721735"/>
            <a:chOff x="1876643" y="780719"/>
            <a:chExt cx="1695938" cy="721735"/>
          </a:xfrm>
        </p:grpSpPr>
        <p:sp>
          <p:nvSpPr>
            <p:cNvPr id="35" name="사각형: 둥근 모서리 107">
              <a:extLst>
                <a:ext uri="{FF2B5EF4-FFF2-40B4-BE49-F238E27FC236}">
                  <a16:creationId xmlns:a16="http://schemas.microsoft.com/office/drawing/2014/main" id="{58A7777F-A397-89B7-4172-5859E91888B5}"/>
                </a:ext>
              </a:extLst>
            </p:cNvPr>
            <p:cNvSpPr/>
            <p:nvPr/>
          </p:nvSpPr>
          <p:spPr>
            <a:xfrm>
              <a:off x="1876643" y="996896"/>
              <a:ext cx="1695938" cy="505558"/>
            </a:xfrm>
            <a:prstGeom prst="round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600" dirty="0">
                  <a:solidFill>
                    <a:schemeClr val="tx1"/>
                  </a:solidFill>
                </a:rPr>
                <a:t># </a:t>
              </a:r>
              <a:r>
                <a:rPr lang="ko-KR" altLang="en-US" sz="600" dirty="0">
                  <a:solidFill>
                    <a:schemeClr val="tx1"/>
                  </a:solidFill>
                </a:rPr>
                <a:t>종류</a:t>
              </a:r>
              <a:endParaRPr lang="en-US" altLang="ko-KR" sz="600" dirty="0">
                <a:solidFill>
                  <a:schemeClr val="tx1"/>
                </a:solidFill>
              </a:endParaRPr>
            </a:p>
            <a:p>
              <a:r>
                <a:rPr lang="en-US" altLang="ko-KR" sz="600" dirty="0">
                  <a:solidFill>
                    <a:schemeClr val="tx1"/>
                  </a:solidFill>
                </a:rPr>
                <a:t>  </a:t>
              </a:r>
              <a:r>
                <a:rPr lang="ko-KR" altLang="ko-KR" sz="600" dirty="0" err="1">
                  <a:solidFill>
                    <a:schemeClr val="tx1"/>
                  </a:solidFill>
                </a:rPr>
                <a:t>LocalExecutor</a:t>
              </a:r>
              <a:endParaRPr lang="en-US" altLang="ko-KR" sz="600" dirty="0">
                <a:solidFill>
                  <a:schemeClr val="tx1"/>
                </a:solidFill>
              </a:endParaRPr>
            </a:p>
            <a:p>
              <a:r>
                <a:rPr lang="en-US" altLang="ko-KR" sz="600" dirty="0">
                  <a:solidFill>
                    <a:schemeClr val="tx1"/>
                  </a:solidFill>
                </a:rPr>
                <a:t>  </a:t>
              </a:r>
              <a:r>
                <a:rPr lang="ko-KR" altLang="ko-KR" sz="600" dirty="0" err="1">
                  <a:solidFill>
                    <a:schemeClr val="tx1"/>
                  </a:solidFill>
                </a:rPr>
                <a:t>CeleryExecutor</a:t>
              </a:r>
              <a:r>
                <a:rPr lang="en-US" altLang="ko-KR" sz="600" dirty="0">
                  <a:solidFill>
                    <a:schemeClr val="tx1"/>
                  </a:solidFill>
                </a:rPr>
                <a:t>: computing pod</a:t>
              </a:r>
            </a:p>
            <a:p>
              <a:r>
                <a:rPr lang="en-US" altLang="ko-KR" sz="600" dirty="0">
                  <a:solidFill>
                    <a:schemeClr val="tx1"/>
                  </a:solidFill>
                </a:rPr>
                <a:t>  </a:t>
              </a:r>
              <a:r>
                <a:rPr lang="ko-KR" altLang="ko-KR" sz="600" dirty="0" err="1">
                  <a:solidFill>
                    <a:schemeClr val="tx1"/>
                  </a:solidFill>
                </a:rPr>
                <a:t>KubernetesExecutor</a:t>
              </a:r>
              <a:r>
                <a:rPr lang="en-US" altLang="ko-KR" sz="600" dirty="0">
                  <a:solidFill>
                    <a:schemeClr val="tx1"/>
                  </a:solidFill>
                </a:rPr>
                <a:t>:</a:t>
              </a:r>
              <a:r>
                <a:rPr lang="ko-KR" altLang="en-US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dirty="0">
                  <a:solidFill>
                    <a:schemeClr val="tx1"/>
                  </a:solidFill>
                </a:rPr>
                <a:t>Task</a:t>
              </a:r>
              <a:r>
                <a:rPr lang="ko-KR" altLang="en-US" sz="600" dirty="0">
                  <a:solidFill>
                    <a:schemeClr val="tx1"/>
                  </a:solidFill>
                </a:rPr>
                <a:t> 마다 별도 </a:t>
              </a:r>
              <a:r>
                <a:rPr lang="en-US" altLang="ko-KR" sz="600" dirty="0">
                  <a:solidFill>
                    <a:schemeClr val="tx1"/>
                  </a:solidFill>
                </a:rPr>
                <a:t>Pod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917274D-0E55-B84E-795F-D638450D405E}"/>
                </a:ext>
              </a:extLst>
            </p:cNvPr>
            <p:cNvSpPr txBox="1"/>
            <p:nvPr/>
          </p:nvSpPr>
          <p:spPr>
            <a:xfrm>
              <a:off x="1876643" y="780719"/>
              <a:ext cx="169593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600" dirty="0" err="1"/>
                <a:t>Excutor</a:t>
              </a:r>
              <a:r>
                <a:rPr lang="en-US" altLang="ko-KR" sz="600" dirty="0"/>
                <a:t>: </a:t>
              </a:r>
              <a:r>
                <a:rPr lang="en-US" altLang="ko-KR" sz="600" dirty="0" err="1"/>
                <a:t>LocalExcutor</a:t>
              </a:r>
              <a:endParaRPr lang="ko-KR" altLang="en-US" sz="600" dirty="0"/>
            </a:p>
          </p:txBody>
        </p:sp>
      </p:grpSp>
      <p:sp>
        <p:nvSpPr>
          <p:cNvPr id="38" name="한쪽 모서리가 잘린 사각형 37">
            <a:extLst>
              <a:ext uri="{FF2B5EF4-FFF2-40B4-BE49-F238E27FC236}">
                <a16:creationId xmlns:a16="http://schemas.microsoft.com/office/drawing/2014/main" id="{CD76C3F5-EE9F-FC77-7E9D-C27C8E088207}"/>
              </a:ext>
            </a:extLst>
          </p:cNvPr>
          <p:cNvSpPr/>
          <p:nvPr/>
        </p:nvSpPr>
        <p:spPr>
          <a:xfrm>
            <a:off x="2701475" y="3196031"/>
            <a:ext cx="719848" cy="556592"/>
          </a:xfrm>
          <a:prstGeom prst="snip1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600" dirty="0">
                <a:solidFill>
                  <a:schemeClr val="tx1"/>
                </a:solidFill>
              </a:rPr>
              <a:t>/opt/airflow</a:t>
            </a:r>
          </a:p>
          <a:p>
            <a:r>
              <a:rPr kumimoji="1" lang="en-US" altLang="ko-KR" sz="600" dirty="0">
                <a:solidFill>
                  <a:schemeClr val="tx1"/>
                </a:solidFill>
              </a:rPr>
              <a:t>  - /</a:t>
            </a:r>
            <a:r>
              <a:rPr kumimoji="1" lang="en-US" altLang="ko-KR" sz="600" dirty="0" err="1">
                <a:solidFill>
                  <a:schemeClr val="tx1"/>
                </a:solidFill>
              </a:rPr>
              <a:t>dags</a:t>
            </a:r>
            <a:endParaRPr kumimoji="1"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9" name="한쪽 모서리가 잘린 사각형 38">
            <a:extLst>
              <a:ext uri="{FF2B5EF4-FFF2-40B4-BE49-F238E27FC236}">
                <a16:creationId xmlns:a16="http://schemas.microsoft.com/office/drawing/2014/main" id="{6F17AE36-D4CE-EF3B-E2A8-F8BE01F4C616}"/>
              </a:ext>
            </a:extLst>
          </p:cNvPr>
          <p:cNvSpPr/>
          <p:nvPr/>
        </p:nvSpPr>
        <p:spPr>
          <a:xfrm>
            <a:off x="2701475" y="4350225"/>
            <a:ext cx="719848" cy="556592"/>
          </a:xfrm>
          <a:prstGeom prst="snip1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600" dirty="0">
                <a:solidFill>
                  <a:schemeClr val="tx1"/>
                </a:solidFill>
              </a:rPr>
              <a:t>/opt/airflow</a:t>
            </a:r>
          </a:p>
          <a:p>
            <a:r>
              <a:rPr kumimoji="1" lang="en-US" altLang="ko-KR" sz="600" dirty="0">
                <a:solidFill>
                  <a:schemeClr val="tx1"/>
                </a:solidFill>
              </a:rPr>
              <a:t>  - /logs</a:t>
            </a:r>
            <a:endParaRPr kumimoji="1"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93C00D-1B65-8B21-BA14-68B69D74BBAC}"/>
              </a:ext>
            </a:extLst>
          </p:cNvPr>
          <p:cNvSpPr txBox="1"/>
          <p:nvPr/>
        </p:nvSpPr>
        <p:spPr>
          <a:xfrm>
            <a:off x="2526199" y="4142486"/>
            <a:ext cx="1076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&lt;airflow-data-</a:t>
            </a:r>
            <a:r>
              <a:rPr lang="en-US" altLang="ko-KR" sz="800" dirty="0" err="1"/>
              <a:t>pvc</a:t>
            </a:r>
            <a:r>
              <a:rPr lang="en-US" altLang="ko-KR" sz="800" dirty="0"/>
              <a:t>&gt;</a:t>
            </a:r>
            <a:endParaRPr lang="ko-KR" altLang="en-US" sz="800" dirty="0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C92AA73B-DAEE-A0E8-FC3A-757AE53427E1}"/>
              </a:ext>
            </a:extLst>
          </p:cNvPr>
          <p:cNvCxnSpPr>
            <a:cxnSpLocks/>
            <a:stCxn id="38" idx="1"/>
            <a:endCxn id="41" idx="0"/>
          </p:cNvCxnSpPr>
          <p:nvPr/>
        </p:nvCxnSpPr>
        <p:spPr>
          <a:xfrm>
            <a:off x="3061399" y="3752623"/>
            <a:ext cx="3152" cy="3898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원통[C] 49">
            <a:extLst>
              <a:ext uri="{FF2B5EF4-FFF2-40B4-BE49-F238E27FC236}">
                <a16:creationId xmlns:a16="http://schemas.microsoft.com/office/drawing/2014/main" id="{8CFB4E14-F7BC-028F-0702-84EEEDDC11F3}"/>
              </a:ext>
            </a:extLst>
          </p:cNvPr>
          <p:cNvSpPr/>
          <p:nvPr/>
        </p:nvSpPr>
        <p:spPr>
          <a:xfrm>
            <a:off x="7139600" y="5210093"/>
            <a:ext cx="2240090" cy="664314"/>
          </a:xfrm>
          <a:prstGeom prst="ca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DE1D35-A03B-94BB-9F5B-6AAD1E655550}"/>
              </a:ext>
            </a:extLst>
          </p:cNvPr>
          <p:cNvSpPr txBox="1"/>
          <p:nvPr/>
        </p:nvSpPr>
        <p:spPr>
          <a:xfrm>
            <a:off x="7679600" y="4994649"/>
            <a:ext cx="1076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&lt;airflow-</a:t>
            </a:r>
            <a:r>
              <a:rPr lang="en-US" altLang="ko-KR" sz="800" dirty="0" err="1"/>
              <a:t>postgres</a:t>
            </a:r>
            <a:r>
              <a:rPr lang="en-US" altLang="ko-KR" sz="800" dirty="0"/>
              <a:t>&gt;</a:t>
            </a:r>
            <a:endParaRPr lang="ko-KR" altLang="en-US" sz="800" dirty="0"/>
          </a:p>
        </p:txBody>
      </p:sp>
      <p:sp>
        <p:nvSpPr>
          <p:cNvPr id="52" name="한쪽 모서리가 잘린 사각형 51">
            <a:extLst>
              <a:ext uri="{FF2B5EF4-FFF2-40B4-BE49-F238E27FC236}">
                <a16:creationId xmlns:a16="http://schemas.microsoft.com/office/drawing/2014/main" id="{6854EC4C-513E-E9DD-B4EB-A4758C1C05D3}"/>
              </a:ext>
            </a:extLst>
          </p:cNvPr>
          <p:cNvSpPr/>
          <p:nvPr/>
        </p:nvSpPr>
        <p:spPr>
          <a:xfrm>
            <a:off x="7787909" y="6218301"/>
            <a:ext cx="946188" cy="556592"/>
          </a:xfrm>
          <a:prstGeom prst="snip1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1B48DA-CD81-ECAE-4CB1-B0A03B8F2A07}"/>
              </a:ext>
            </a:extLst>
          </p:cNvPr>
          <p:cNvSpPr txBox="1"/>
          <p:nvPr/>
        </p:nvSpPr>
        <p:spPr>
          <a:xfrm>
            <a:off x="7583928" y="6002857"/>
            <a:ext cx="13514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&lt;airflow-</a:t>
            </a:r>
            <a:r>
              <a:rPr lang="en-US" altLang="ko-KR" sz="800" dirty="0" err="1"/>
              <a:t>postgres</a:t>
            </a:r>
            <a:r>
              <a:rPr lang="en-US" altLang="ko-KR" sz="800" dirty="0"/>
              <a:t>-data&gt;</a:t>
            </a:r>
            <a:endParaRPr lang="ko-KR" altLang="en-US" sz="800" dirty="0"/>
          </a:p>
        </p:txBody>
      </p:sp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72863783-7336-8152-C772-C064AB77A05D}"/>
              </a:ext>
            </a:extLst>
          </p:cNvPr>
          <p:cNvCxnSpPr>
            <a:cxnSpLocks/>
            <a:stCxn id="50" idx="3"/>
            <a:endCxn id="53" idx="0"/>
          </p:cNvCxnSpPr>
          <p:nvPr/>
        </p:nvCxnSpPr>
        <p:spPr>
          <a:xfrm>
            <a:off x="8259645" y="5874407"/>
            <a:ext cx="0" cy="1284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205B4A1A-3706-05AE-41A5-6FECEDD4F993}"/>
              </a:ext>
            </a:extLst>
          </p:cNvPr>
          <p:cNvCxnSpPr>
            <a:cxnSpLocks/>
            <a:stCxn id="51" idx="0"/>
            <a:endCxn id="292" idx="2"/>
          </p:cNvCxnSpPr>
          <p:nvPr/>
        </p:nvCxnSpPr>
        <p:spPr>
          <a:xfrm flipV="1">
            <a:off x="8217952" y="3051810"/>
            <a:ext cx="3010" cy="1942839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[E] 76">
            <a:extLst>
              <a:ext uri="{FF2B5EF4-FFF2-40B4-BE49-F238E27FC236}">
                <a16:creationId xmlns:a16="http://schemas.microsoft.com/office/drawing/2014/main" id="{271109AD-957E-3AAF-1F03-442D9527DD15}"/>
              </a:ext>
            </a:extLst>
          </p:cNvPr>
          <p:cNvCxnSpPr>
            <a:cxnSpLocks/>
            <a:stCxn id="50" idx="2"/>
            <a:endCxn id="291" idx="2"/>
          </p:cNvCxnSpPr>
          <p:nvPr/>
        </p:nvCxnSpPr>
        <p:spPr>
          <a:xfrm rot="10800000">
            <a:off x="5907478" y="3051810"/>
            <a:ext cx="1232123" cy="2490440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[E] 87">
            <a:extLst>
              <a:ext uri="{FF2B5EF4-FFF2-40B4-BE49-F238E27FC236}">
                <a16:creationId xmlns:a16="http://schemas.microsoft.com/office/drawing/2014/main" id="{5354824E-D4E3-732F-4453-417510F1CCC9}"/>
              </a:ext>
            </a:extLst>
          </p:cNvPr>
          <p:cNvCxnSpPr>
            <a:cxnSpLocks/>
          </p:cNvCxnSpPr>
          <p:nvPr/>
        </p:nvCxnSpPr>
        <p:spPr>
          <a:xfrm rot="5400000">
            <a:off x="5618701" y="2907350"/>
            <a:ext cx="201641" cy="122278"/>
          </a:xfrm>
          <a:prstGeom prst="bentConnector3">
            <a:avLst>
              <a:gd name="adj1" fmla="val 65773"/>
            </a:avLst>
          </a:prstGeom>
          <a:ln>
            <a:solidFill>
              <a:schemeClr val="tx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65C90A2-1862-0BB9-E5E7-F6C893602DB1}"/>
              </a:ext>
            </a:extLst>
          </p:cNvPr>
          <p:cNvSpPr txBox="1"/>
          <p:nvPr/>
        </p:nvSpPr>
        <p:spPr>
          <a:xfrm>
            <a:off x="7801179" y="3155953"/>
            <a:ext cx="1080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1.</a:t>
            </a:r>
            <a:r>
              <a:rPr lang="ko-KR" altLang="en-US" sz="700" dirty="0"/>
              <a:t> </a:t>
            </a:r>
            <a:r>
              <a:rPr lang="en-US" altLang="ko-KR" sz="700" dirty="0"/>
              <a:t>DAG Parsing</a:t>
            </a:r>
            <a:endParaRPr lang="ko-KR" altLang="en-US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05CA476-E1DE-906C-AAFA-5A743911505E}"/>
              </a:ext>
            </a:extLst>
          </p:cNvPr>
          <p:cNvSpPr txBox="1"/>
          <p:nvPr/>
        </p:nvSpPr>
        <p:spPr>
          <a:xfrm>
            <a:off x="5896255" y="3132162"/>
            <a:ext cx="1080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2. run/task</a:t>
            </a:r>
            <a:r>
              <a:rPr lang="ko-KR" altLang="en-US" sz="700" dirty="0"/>
              <a:t> 조회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D470DEC-CD8F-837F-8C7A-C9F31AF39114}"/>
              </a:ext>
            </a:extLst>
          </p:cNvPr>
          <p:cNvSpPr txBox="1"/>
          <p:nvPr/>
        </p:nvSpPr>
        <p:spPr>
          <a:xfrm>
            <a:off x="5403801" y="2995976"/>
            <a:ext cx="6221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3.</a:t>
            </a:r>
            <a:r>
              <a:rPr lang="ko-KR" altLang="en-US" sz="700" dirty="0"/>
              <a:t> 실행</a:t>
            </a:r>
          </a:p>
        </p:txBody>
      </p:sp>
      <p:cxnSp>
        <p:nvCxnSpPr>
          <p:cNvPr id="93" name="꺾인 연결선[E] 92">
            <a:extLst>
              <a:ext uri="{FF2B5EF4-FFF2-40B4-BE49-F238E27FC236}">
                <a16:creationId xmlns:a16="http://schemas.microsoft.com/office/drawing/2014/main" id="{A79141A7-9341-F3B3-C0A5-B9F00C381B66}"/>
              </a:ext>
            </a:extLst>
          </p:cNvPr>
          <p:cNvCxnSpPr>
            <a:cxnSpLocks/>
            <a:stCxn id="290" idx="3"/>
            <a:endCxn id="35" idx="1"/>
          </p:cNvCxnSpPr>
          <p:nvPr/>
        </p:nvCxnSpPr>
        <p:spPr>
          <a:xfrm>
            <a:off x="4495492" y="2577509"/>
            <a:ext cx="570054" cy="5629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EE91344-7CA6-AA3E-5C06-8F5BDFE251CD}"/>
              </a:ext>
            </a:extLst>
          </p:cNvPr>
          <p:cNvSpPr txBox="1"/>
          <p:nvPr/>
        </p:nvSpPr>
        <p:spPr>
          <a:xfrm>
            <a:off x="4461591" y="2606384"/>
            <a:ext cx="6726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4.</a:t>
            </a:r>
            <a:r>
              <a:rPr lang="ko-KR" altLang="en-US" sz="700" dirty="0"/>
              <a:t> </a:t>
            </a:r>
            <a:r>
              <a:rPr lang="en-US" altLang="ko-KR" sz="700" dirty="0"/>
              <a:t>Task </a:t>
            </a:r>
            <a:r>
              <a:rPr lang="ko-KR" altLang="en-US" sz="700" dirty="0"/>
              <a:t>창구</a:t>
            </a:r>
          </a:p>
        </p:txBody>
      </p: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C65DB850-15E2-D733-EB04-BC0377321F86}"/>
              </a:ext>
            </a:extLst>
          </p:cNvPr>
          <p:cNvCxnSpPr>
            <a:cxnSpLocks/>
            <a:stCxn id="50" idx="2"/>
            <a:endCxn id="290" idx="2"/>
          </p:cNvCxnSpPr>
          <p:nvPr/>
        </p:nvCxnSpPr>
        <p:spPr>
          <a:xfrm rot="10800000">
            <a:off x="3595492" y="3053276"/>
            <a:ext cx="3544108" cy="2488974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D0DE062-4296-9A26-797F-36A66A825D89}"/>
              </a:ext>
            </a:extLst>
          </p:cNvPr>
          <p:cNvSpPr txBox="1"/>
          <p:nvPr/>
        </p:nvSpPr>
        <p:spPr>
          <a:xfrm>
            <a:off x="3632280" y="3164645"/>
            <a:ext cx="10800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5. </a:t>
            </a:r>
            <a:r>
              <a:rPr lang="ko-KR" altLang="en-US" sz="700" dirty="0"/>
              <a:t>상태저장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E041518-6071-6A40-6B03-8226542B0D6F}"/>
              </a:ext>
            </a:extLst>
          </p:cNvPr>
          <p:cNvSpPr txBox="1"/>
          <p:nvPr/>
        </p:nvSpPr>
        <p:spPr>
          <a:xfrm>
            <a:off x="7570658" y="4691373"/>
            <a:ext cx="15145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&lt;</a:t>
            </a:r>
            <a:r>
              <a:rPr lang="en-US" altLang="ko-KR" sz="800" dirty="0" err="1"/>
              <a:t>service:airflow-postgres</a:t>
            </a:r>
            <a:r>
              <a:rPr lang="en-US" altLang="ko-KR" sz="800" dirty="0"/>
              <a:t>&gt;</a:t>
            </a:r>
            <a:endParaRPr lang="ko-KR" altLang="en-US" sz="800" dirty="0"/>
          </a:p>
        </p:txBody>
      </p:sp>
      <p:cxnSp>
        <p:nvCxnSpPr>
          <p:cNvPr id="122" name="꺾인 연결선[E] 121">
            <a:extLst>
              <a:ext uri="{FF2B5EF4-FFF2-40B4-BE49-F238E27FC236}">
                <a16:creationId xmlns:a16="http://schemas.microsoft.com/office/drawing/2014/main" id="{24FFAB17-676E-A0AC-54E0-8DBA13774F5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421323" y="3051810"/>
            <a:ext cx="4641300" cy="1576711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7F8C417-CDB6-3908-47DE-62507189DBEF}"/>
              </a:ext>
            </a:extLst>
          </p:cNvPr>
          <p:cNvSpPr txBox="1"/>
          <p:nvPr/>
        </p:nvSpPr>
        <p:spPr>
          <a:xfrm>
            <a:off x="2504678" y="748130"/>
            <a:ext cx="10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initContainers</a:t>
            </a:r>
            <a:endParaRPr lang="ko-KR" altLang="en-US" sz="800" dirty="0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4590630-A0C7-2B19-7CB1-2A8E815991A1}"/>
              </a:ext>
            </a:extLst>
          </p:cNvPr>
          <p:cNvSpPr/>
          <p:nvPr/>
        </p:nvSpPr>
        <p:spPr>
          <a:xfrm>
            <a:off x="2511876" y="933803"/>
            <a:ext cx="6836009" cy="4816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00" dirty="0">
                <a:solidFill>
                  <a:schemeClr val="tx1"/>
                </a:solidFill>
              </a:rPr>
              <a:t>Clone-repo(git) -&gt; </a:t>
            </a:r>
            <a:r>
              <a:rPr lang="en-US" altLang="ko-KR" sz="600" dirty="0" err="1">
                <a:solidFill>
                  <a:schemeClr val="tx1"/>
                </a:solidFill>
              </a:rPr>
              <a:t>emptyDir</a:t>
            </a:r>
            <a:r>
              <a:rPr lang="en-US" altLang="ko-KR" sz="600" dirty="0">
                <a:solidFill>
                  <a:schemeClr val="tx1"/>
                </a:solidFill>
              </a:rPr>
              <a:t> -&gt; install -&gt; wait-</a:t>
            </a:r>
            <a:r>
              <a:rPr lang="en-US" altLang="ko-KR" sz="600" dirty="0" err="1">
                <a:solidFill>
                  <a:schemeClr val="tx1"/>
                </a:solidFill>
              </a:rPr>
              <a:t>pg</a:t>
            </a:r>
            <a:endParaRPr lang="en-US" altLang="ko-KR" sz="600" dirty="0">
              <a:solidFill>
                <a:schemeClr val="tx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C0B3CA9-74C7-95FC-13B7-83F6629F5B2F}"/>
              </a:ext>
            </a:extLst>
          </p:cNvPr>
          <p:cNvSpPr txBox="1"/>
          <p:nvPr/>
        </p:nvSpPr>
        <p:spPr>
          <a:xfrm>
            <a:off x="2519220" y="1543683"/>
            <a:ext cx="10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Container: airflow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B722162-EE39-DC14-9EE1-5E95B4F807C2}"/>
              </a:ext>
            </a:extLst>
          </p:cNvPr>
          <p:cNvSpPr/>
          <p:nvPr/>
        </p:nvSpPr>
        <p:spPr>
          <a:xfrm>
            <a:off x="2526418" y="1729356"/>
            <a:ext cx="6821467" cy="21976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600" dirty="0">
              <a:solidFill>
                <a:schemeClr val="tx1"/>
              </a:solidFill>
            </a:endParaRPr>
          </a:p>
        </p:txBody>
      </p:sp>
      <p:cxnSp>
        <p:nvCxnSpPr>
          <p:cNvPr id="177" name="꺾인 연결선[E] 176">
            <a:extLst>
              <a:ext uri="{FF2B5EF4-FFF2-40B4-BE49-F238E27FC236}">
                <a16:creationId xmlns:a16="http://schemas.microsoft.com/office/drawing/2014/main" id="{DC9884DA-0B6D-9F42-BBF3-47D6B192772E}"/>
              </a:ext>
            </a:extLst>
          </p:cNvPr>
          <p:cNvCxnSpPr>
            <a:cxnSpLocks/>
            <a:stCxn id="38" idx="2"/>
            <a:endCxn id="127" idx="1"/>
          </p:cNvCxnSpPr>
          <p:nvPr/>
        </p:nvCxnSpPr>
        <p:spPr>
          <a:xfrm rot="10800000">
            <a:off x="2511877" y="1174623"/>
            <a:ext cx="189599" cy="2299704"/>
          </a:xfrm>
          <a:prstGeom prst="bentConnector3">
            <a:avLst>
              <a:gd name="adj1" fmla="val 149277"/>
            </a:avLst>
          </a:prstGeom>
          <a:ln>
            <a:solidFill>
              <a:schemeClr val="tx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97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6cf4840-d096-4735-b8ca-3343c17f7dd7}" enabled="1" method="Standard" siteId="{4d67598d-16bc-42f1-a18d-e8fb794aed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91</Words>
  <Application>Microsoft Macintosh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</dc:creator>
  <cp:lastModifiedBy>hyunyukim</cp:lastModifiedBy>
  <cp:revision>33</cp:revision>
  <dcterms:created xsi:type="dcterms:W3CDTF">2020-07-16T15:19:55Z</dcterms:created>
  <dcterms:modified xsi:type="dcterms:W3CDTF">2026-10-06T12:08:43Z</dcterms:modified>
</cp:coreProperties>
</file>